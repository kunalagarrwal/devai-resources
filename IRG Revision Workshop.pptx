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C5BD5C2D-9F8C-499C-9E7A-8E65745AE5B9}" type="datetimeFigureOut">
              <a:rPr lang="en-US" smtClean="0"/>
              <a:t>5/1/2026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DBA08FC0-B355-4745-8608-7AE07639DDF0}"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5881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BD5C2D-9F8C-499C-9E7A-8E65745AE5B9}"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A08FC0-B355-4745-8608-7AE07639DDF0}" type="slidenum">
              <a:rPr lang="en-US" smtClean="0"/>
              <a:t>‹#›</a:t>
            </a:fld>
            <a:endParaRPr lang="en-US"/>
          </a:p>
        </p:txBody>
      </p:sp>
    </p:spTree>
    <p:extLst>
      <p:ext uri="{BB962C8B-B14F-4D97-AF65-F5344CB8AC3E}">
        <p14:creationId xmlns:p14="http://schemas.microsoft.com/office/powerpoint/2010/main" val="2237168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BD5C2D-9F8C-499C-9E7A-8E65745AE5B9}"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A08FC0-B355-4745-8608-7AE07639DDF0}"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5799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BD5C2D-9F8C-499C-9E7A-8E65745AE5B9}"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A08FC0-B355-4745-8608-7AE07639DDF0}" type="slidenum">
              <a:rPr lang="en-US" smtClean="0"/>
              <a:t>‹#›</a:t>
            </a:fld>
            <a:endParaRPr lang="en-US"/>
          </a:p>
        </p:txBody>
      </p:sp>
    </p:spTree>
    <p:extLst>
      <p:ext uri="{BB962C8B-B14F-4D97-AF65-F5344CB8AC3E}">
        <p14:creationId xmlns:p14="http://schemas.microsoft.com/office/powerpoint/2010/main" val="4183332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5BD5C2D-9F8C-499C-9E7A-8E65745AE5B9}" type="datetimeFigureOut">
              <a:rPr lang="en-US" smtClean="0"/>
              <a:t>5/1/2026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A08FC0-B355-4745-8608-7AE07639DDF0}"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9291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BD5C2D-9F8C-499C-9E7A-8E65745AE5B9}" type="datetimeFigureOut">
              <a:rPr lang="en-US" smtClean="0"/>
              <a:t>5/1/2026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A08FC0-B355-4745-8608-7AE07639DDF0}"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3331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BD5C2D-9F8C-499C-9E7A-8E65745AE5B9}" type="datetimeFigureOut">
              <a:rPr lang="en-US" smtClean="0"/>
              <a:t>5/1/2026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A08FC0-B355-4745-8608-7AE07639DDF0}" type="slidenum">
              <a:rPr lang="en-US" smtClean="0"/>
              <a:t>‹#›</a:t>
            </a:fld>
            <a:endParaRPr lang="en-US"/>
          </a:p>
        </p:txBody>
      </p:sp>
    </p:spTree>
    <p:extLst>
      <p:ext uri="{BB962C8B-B14F-4D97-AF65-F5344CB8AC3E}">
        <p14:creationId xmlns:p14="http://schemas.microsoft.com/office/powerpoint/2010/main" val="1023329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BD5C2D-9F8C-499C-9E7A-8E65745AE5B9}"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A08FC0-B355-4745-8608-7AE07639DDF0}"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7025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BD5C2D-9F8C-499C-9E7A-8E65745AE5B9}"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A08FC0-B355-4745-8608-7AE07639DDF0}" type="slidenum">
              <a:rPr lang="en-US" smtClean="0"/>
              <a:t>‹#›</a:t>
            </a:fld>
            <a:endParaRPr lang="en-US"/>
          </a:p>
        </p:txBody>
      </p:sp>
    </p:spTree>
    <p:extLst>
      <p:ext uri="{BB962C8B-B14F-4D97-AF65-F5344CB8AC3E}">
        <p14:creationId xmlns:p14="http://schemas.microsoft.com/office/powerpoint/2010/main" val="2359863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BD5C2D-9F8C-499C-9E7A-8E65745AE5B9}"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A08FC0-B355-4745-8608-7AE07639DDF0}" type="slidenum">
              <a:rPr lang="en-US" smtClean="0"/>
              <a:t>‹#›</a:t>
            </a:fld>
            <a:endParaRPr lang="en-US"/>
          </a:p>
        </p:txBody>
      </p:sp>
    </p:spTree>
    <p:extLst>
      <p:ext uri="{BB962C8B-B14F-4D97-AF65-F5344CB8AC3E}">
        <p14:creationId xmlns:p14="http://schemas.microsoft.com/office/powerpoint/2010/main" val="4271393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BD5C2D-9F8C-499C-9E7A-8E65745AE5B9}"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A08FC0-B355-4745-8608-7AE07639DDF0}"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1085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BD5C2D-9F8C-499C-9E7A-8E65745AE5B9}"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A08FC0-B355-4745-8608-7AE07639DDF0}"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57615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BD5C2D-9F8C-499C-9E7A-8E65745AE5B9}"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A08FC0-B355-4745-8608-7AE07639DDF0}" type="slidenum">
              <a:rPr lang="en-US" smtClean="0"/>
              <a:t>‹#›</a:t>
            </a:fld>
            <a:endParaRPr lang="en-US"/>
          </a:p>
        </p:txBody>
      </p:sp>
    </p:spTree>
    <p:extLst>
      <p:ext uri="{BB962C8B-B14F-4D97-AF65-F5344CB8AC3E}">
        <p14:creationId xmlns:p14="http://schemas.microsoft.com/office/powerpoint/2010/main" val="26411352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BD5C2D-9F8C-499C-9E7A-8E65745AE5B9}"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A08FC0-B355-4745-8608-7AE07639DDF0}"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74653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BD5C2D-9F8C-499C-9E7A-8E65745AE5B9}"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A08FC0-B355-4745-8608-7AE07639DDF0}"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4892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BD5C2D-9F8C-499C-9E7A-8E65745AE5B9}"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A08FC0-B355-4745-8608-7AE07639DDF0}"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5921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BD5C2D-9F8C-499C-9E7A-8E65745AE5B9}"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A08FC0-B355-4745-8608-7AE07639DDF0}"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0589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5BD5C2D-9F8C-499C-9E7A-8E65745AE5B9}" type="datetimeFigureOut">
              <a:rPr lang="en-US" smtClean="0"/>
              <a:t>5/1/2026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BA08FC0-B355-4745-8608-7AE07639DDF0}" type="slidenum">
              <a:rPr lang="en-US" smtClean="0"/>
              <a:t>‹#›</a:t>
            </a:fld>
            <a:endParaRPr lang="en-US"/>
          </a:p>
        </p:txBody>
      </p:sp>
    </p:spTree>
    <p:extLst>
      <p:ext uri="{BB962C8B-B14F-4D97-AF65-F5344CB8AC3E}">
        <p14:creationId xmlns:p14="http://schemas.microsoft.com/office/powerpoint/2010/main" val="7835622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5C1A0-B180-452D-3CD6-B0508EE8E58B}"/>
              </a:ext>
            </a:extLst>
          </p:cNvPr>
          <p:cNvSpPr>
            <a:spLocks noGrp="1"/>
          </p:cNvSpPr>
          <p:nvPr>
            <p:ph type="ctrTitle"/>
          </p:nvPr>
        </p:nvSpPr>
        <p:spPr>
          <a:xfrm>
            <a:off x="2437341" y="2795056"/>
            <a:ext cx="7317317" cy="1515533"/>
          </a:xfrm>
        </p:spPr>
        <p:txBody>
          <a:bodyPr/>
          <a:lstStyle/>
          <a:p>
            <a:r>
              <a:rPr lang="en-US" dirty="0"/>
              <a:t>Final Internet Resource Guide Revision Workshop</a:t>
            </a:r>
          </a:p>
        </p:txBody>
      </p:sp>
      <p:sp>
        <p:nvSpPr>
          <p:cNvPr id="3" name="Subtitle 2">
            <a:extLst>
              <a:ext uri="{FF2B5EF4-FFF2-40B4-BE49-F238E27FC236}">
                <a16:creationId xmlns:a16="http://schemas.microsoft.com/office/drawing/2014/main" id="{446A88FD-DF60-8594-46F0-D21542ED50AC}"/>
              </a:ext>
            </a:extLst>
          </p:cNvPr>
          <p:cNvSpPr>
            <a:spLocks noGrp="1"/>
          </p:cNvSpPr>
          <p:nvPr>
            <p:ph type="subTitle" idx="1"/>
          </p:nvPr>
        </p:nvSpPr>
        <p:spPr>
          <a:xfrm>
            <a:off x="2692398" y="4629150"/>
            <a:ext cx="6815669" cy="663574"/>
          </a:xfrm>
        </p:spPr>
        <p:txBody>
          <a:bodyPr/>
          <a:lstStyle/>
          <a:p>
            <a:r>
              <a:rPr lang="en-US" i="1" dirty="0"/>
              <a:t>ENGL202C – Penn State</a:t>
            </a:r>
          </a:p>
        </p:txBody>
      </p:sp>
    </p:spTree>
    <p:extLst>
      <p:ext uri="{BB962C8B-B14F-4D97-AF65-F5344CB8AC3E}">
        <p14:creationId xmlns:p14="http://schemas.microsoft.com/office/powerpoint/2010/main" val="3253092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DC472-2A45-2494-6230-EC2ABD189668}"/>
              </a:ext>
            </a:extLst>
          </p:cNvPr>
          <p:cNvSpPr>
            <a:spLocks noGrp="1"/>
          </p:cNvSpPr>
          <p:nvPr>
            <p:ph type="title"/>
          </p:nvPr>
        </p:nvSpPr>
        <p:spPr/>
        <p:txBody>
          <a:bodyPr/>
          <a:lstStyle/>
          <a:p>
            <a:r>
              <a:rPr lang="en-US" dirty="0"/>
              <a:t>Resource Abstracts: </a:t>
            </a:r>
            <a:r>
              <a:rPr lang="en-US" b="1" dirty="0"/>
              <a:t>Content</a:t>
            </a:r>
          </a:p>
        </p:txBody>
      </p:sp>
      <p:sp>
        <p:nvSpPr>
          <p:cNvPr id="3" name="Content Placeholder 2">
            <a:extLst>
              <a:ext uri="{FF2B5EF4-FFF2-40B4-BE49-F238E27FC236}">
                <a16:creationId xmlns:a16="http://schemas.microsoft.com/office/drawing/2014/main" id="{CEFDA0DE-91BB-B31D-A1A7-6C4FF2783B1B}"/>
              </a:ext>
            </a:extLst>
          </p:cNvPr>
          <p:cNvSpPr>
            <a:spLocks noGrp="1"/>
          </p:cNvSpPr>
          <p:nvPr>
            <p:ph idx="1"/>
          </p:nvPr>
        </p:nvSpPr>
        <p:spPr/>
        <p:txBody>
          <a:bodyPr>
            <a:normAutofit fontScale="85000" lnSpcReduction="10000"/>
          </a:bodyPr>
          <a:lstStyle/>
          <a:p>
            <a:r>
              <a:rPr lang="en-US" dirty="0"/>
              <a:t>Be expansive in addressing </a:t>
            </a:r>
            <a:r>
              <a:rPr lang="en-US" b="1" dirty="0"/>
              <a:t>all four required questions</a:t>
            </a:r>
            <a:r>
              <a:rPr lang="en-US" dirty="0"/>
              <a:t>. </a:t>
            </a:r>
          </a:p>
          <a:p>
            <a:pPr lvl="1"/>
            <a:r>
              <a:rPr lang="en-US" dirty="0"/>
              <a:t>Consider providing examples of instances where people would engage the site for different reasons related to the task.</a:t>
            </a:r>
          </a:p>
          <a:p>
            <a:pPr lvl="1"/>
            <a:r>
              <a:rPr lang="en-US" dirty="0"/>
              <a:t>Spatialize content as needed in writing to help readers locate information.</a:t>
            </a:r>
          </a:p>
          <a:p>
            <a:r>
              <a:rPr lang="en-US" dirty="0"/>
              <a:t>Incorporate a clear </a:t>
            </a:r>
            <a:r>
              <a:rPr lang="en-US" b="1" dirty="0"/>
              <a:t>overview section </a:t>
            </a:r>
            <a:r>
              <a:rPr lang="en-US" dirty="0"/>
              <a:t>with identifying information.</a:t>
            </a:r>
          </a:p>
          <a:p>
            <a:pPr lvl="1"/>
            <a:r>
              <a:rPr lang="en-US" dirty="0"/>
              <a:t>The resource link should be embedded in text in the first sentence.</a:t>
            </a:r>
          </a:p>
          <a:p>
            <a:pPr lvl="1"/>
            <a:r>
              <a:rPr lang="en-US" dirty="0"/>
              <a:t>Provide additional sections with further information—relevance to audience, tips for using the resource, etc.</a:t>
            </a:r>
          </a:p>
          <a:p>
            <a:r>
              <a:rPr lang="en-US" dirty="0"/>
              <a:t>Relate the resource clearly to both your audience </a:t>
            </a:r>
            <a:r>
              <a:rPr lang="en-US" b="1" i="1" dirty="0"/>
              <a:t>and</a:t>
            </a:r>
            <a:r>
              <a:rPr lang="en-US" i="1" dirty="0"/>
              <a:t> </a:t>
            </a:r>
            <a:r>
              <a:rPr lang="en-US" dirty="0"/>
              <a:t>the task they are seeking to complete.</a:t>
            </a:r>
          </a:p>
          <a:p>
            <a:pPr lvl="1"/>
            <a:endParaRPr lang="en-US" dirty="0"/>
          </a:p>
          <a:p>
            <a:endParaRPr lang="en-US" dirty="0"/>
          </a:p>
        </p:txBody>
      </p:sp>
    </p:spTree>
    <p:extLst>
      <p:ext uri="{BB962C8B-B14F-4D97-AF65-F5344CB8AC3E}">
        <p14:creationId xmlns:p14="http://schemas.microsoft.com/office/powerpoint/2010/main" val="3634648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E15B0-FDE3-250F-944A-87EB122E839E}"/>
              </a:ext>
            </a:extLst>
          </p:cNvPr>
          <p:cNvSpPr>
            <a:spLocks noGrp="1"/>
          </p:cNvSpPr>
          <p:nvPr>
            <p:ph type="title"/>
          </p:nvPr>
        </p:nvSpPr>
        <p:spPr/>
        <p:txBody>
          <a:bodyPr/>
          <a:lstStyle/>
          <a:p>
            <a:r>
              <a:rPr lang="en-US" dirty="0"/>
              <a:t>Resource Abstracts: </a:t>
            </a:r>
            <a:r>
              <a:rPr lang="en-US" b="1" dirty="0"/>
              <a:t>Design</a:t>
            </a:r>
            <a:endParaRPr lang="en-US" dirty="0"/>
          </a:p>
        </p:txBody>
      </p:sp>
      <p:sp>
        <p:nvSpPr>
          <p:cNvPr id="3" name="Content Placeholder 2">
            <a:extLst>
              <a:ext uri="{FF2B5EF4-FFF2-40B4-BE49-F238E27FC236}">
                <a16:creationId xmlns:a16="http://schemas.microsoft.com/office/drawing/2014/main" id="{D6A8585B-83D6-117F-0EA1-441436E46E4C}"/>
              </a:ext>
            </a:extLst>
          </p:cNvPr>
          <p:cNvSpPr>
            <a:spLocks noGrp="1"/>
          </p:cNvSpPr>
          <p:nvPr>
            <p:ph idx="1"/>
          </p:nvPr>
        </p:nvSpPr>
        <p:spPr/>
        <p:txBody>
          <a:bodyPr>
            <a:normAutofit fontScale="92500" lnSpcReduction="10000"/>
          </a:bodyPr>
          <a:lstStyle/>
          <a:p>
            <a:r>
              <a:rPr lang="en-US" dirty="0"/>
              <a:t>Create </a:t>
            </a:r>
            <a:r>
              <a:rPr lang="en-US" b="1" dirty="0"/>
              <a:t>discrete sections with headings and advance organizers (if needed) </a:t>
            </a:r>
            <a:r>
              <a:rPr lang="en-US" dirty="0"/>
              <a:t>and include the following:</a:t>
            </a:r>
          </a:p>
          <a:p>
            <a:pPr lvl="1"/>
            <a:r>
              <a:rPr lang="en-US" dirty="0"/>
              <a:t>Overview</a:t>
            </a:r>
          </a:p>
          <a:p>
            <a:pPr lvl="1"/>
            <a:r>
              <a:rPr lang="en-US" dirty="0"/>
              <a:t>Section related to audience</a:t>
            </a:r>
          </a:p>
          <a:p>
            <a:pPr lvl="1"/>
            <a:r>
              <a:rPr lang="en-US" dirty="0"/>
              <a:t>Tips or strategies for using the resource, potentially including related resources</a:t>
            </a:r>
          </a:p>
          <a:p>
            <a:r>
              <a:rPr lang="en-US" b="1" dirty="0"/>
              <a:t>Chunk out paragraphs </a:t>
            </a:r>
            <a:r>
              <a:rPr lang="en-US" dirty="0"/>
              <a:t>and maintain concision while still being comprehensive.</a:t>
            </a:r>
          </a:p>
          <a:p>
            <a:r>
              <a:rPr lang="en-US" dirty="0"/>
              <a:t>Add </a:t>
            </a:r>
            <a:r>
              <a:rPr lang="en-US" b="1" dirty="0"/>
              <a:t>visual media </a:t>
            </a:r>
            <a:r>
              <a:rPr lang="en-US" dirty="0"/>
              <a:t>where appropriate to illustrate information that is difficult to visualize, especially to help readers locate certain content.</a:t>
            </a:r>
          </a:p>
          <a:p>
            <a:endParaRPr lang="en-US" dirty="0"/>
          </a:p>
        </p:txBody>
      </p:sp>
    </p:spTree>
    <p:extLst>
      <p:ext uri="{BB962C8B-B14F-4D97-AF65-F5344CB8AC3E}">
        <p14:creationId xmlns:p14="http://schemas.microsoft.com/office/powerpoint/2010/main" val="2249420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78777-222A-884F-8114-BE3AB3DBBA5A}"/>
              </a:ext>
            </a:extLst>
          </p:cNvPr>
          <p:cNvSpPr>
            <a:spLocks noGrp="1"/>
          </p:cNvSpPr>
          <p:nvPr>
            <p:ph type="title"/>
          </p:nvPr>
        </p:nvSpPr>
        <p:spPr/>
        <p:txBody>
          <a:bodyPr/>
          <a:lstStyle/>
          <a:p>
            <a:r>
              <a:rPr lang="en-US" dirty="0"/>
              <a:t>Website Design: </a:t>
            </a:r>
            <a:r>
              <a:rPr lang="en-US" b="1" dirty="0"/>
              <a:t>Front Matter</a:t>
            </a:r>
            <a:endParaRPr lang="en-US" dirty="0"/>
          </a:p>
        </p:txBody>
      </p:sp>
      <p:sp>
        <p:nvSpPr>
          <p:cNvPr id="3" name="Content Placeholder 2">
            <a:extLst>
              <a:ext uri="{FF2B5EF4-FFF2-40B4-BE49-F238E27FC236}">
                <a16:creationId xmlns:a16="http://schemas.microsoft.com/office/drawing/2014/main" id="{85A41376-3A56-695C-D743-42A57ABB567F}"/>
              </a:ext>
            </a:extLst>
          </p:cNvPr>
          <p:cNvSpPr>
            <a:spLocks noGrp="1"/>
          </p:cNvSpPr>
          <p:nvPr>
            <p:ph idx="1"/>
          </p:nvPr>
        </p:nvSpPr>
        <p:spPr/>
        <p:txBody>
          <a:bodyPr>
            <a:normAutofit fontScale="92500"/>
          </a:bodyPr>
          <a:lstStyle/>
          <a:p>
            <a:r>
              <a:rPr lang="en-US" dirty="0"/>
              <a:t>In one or two paragraphs, </a:t>
            </a:r>
            <a:r>
              <a:rPr lang="en-US" b="1" dirty="0"/>
              <a:t>introduce your purpose </a:t>
            </a:r>
            <a:r>
              <a:rPr lang="en-US" dirty="0"/>
              <a:t>and </a:t>
            </a:r>
            <a:r>
              <a:rPr lang="en-US" b="1" dirty="0"/>
              <a:t>connect it to the audience</a:t>
            </a:r>
            <a:r>
              <a:rPr lang="en-US" dirty="0"/>
              <a:t>. Lay out the task clearly and explain why this guide relates to them.</a:t>
            </a:r>
          </a:p>
          <a:p>
            <a:r>
              <a:rPr lang="en-US" dirty="0"/>
              <a:t>Break down the </a:t>
            </a:r>
            <a:r>
              <a:rPr lang="en-US" b="1" dirty="0"/>
              <a:t>six resources in the guide </a:t>
            </a:r>
            <a:r>
              <a:rPr lang="en-US" dirty="0"/>
              <a:t>and </a:t>
            </a:r>
            <a:r>
              <a:rPr lang="en-US" b="1" dirty="0"/>
              <a:t>explain how they are organized </a:t>
            </a:r>
            <a:r>
              <a:rPr lang="en-US" dirty="0"/>
              <a:t>in the site.</a:t>
            </a:r>
          </a:p>
          <a:p>
            <a:pPr lvl="1"/>
            <a:r>
              <a:rPr lang="en-US" dirty="0"/>
              <a:t>Detail the order that readers should follow in navigating through the pages.</a:t>
            </a:r>
          </a:p>
          <a:p>
            <a:pPr lvl="1"/>
            <a:r>
              <a:rPr lang="en-US" dirty="0"/>
              <a:t>Outline the relationships between resources to indicate to the audience that you have crafted a </a:t>
            </a:r>
            <a:r>
              <a:rPr lang="en-US" b="1" i="1" dirty="0"/>
              <a:t>holistic </a:t>
            </a:r>
            <a:r>
              <a:rPr lang="en-US" b="1" dirty="0"/>
              <a:t>guide</a:t>
            </a:r>
            <a:r>
              <a:rPr lang="en-US" dirty="0"/>
              <a:t>.</a:t>
            </a:r>
          </a:p>
          <a:p>
            <a:r>
              <a:rPr lang="en-US" dirty="0"/>
              <a:t>Conclude with a </a:t>
            </a:r>
            <a:r>
              <a:rPr lang="en-US" b="1" dirty="0"/>
              <a:t>table of contents</a:t>
            </a:r>
            <a:r>
              <a:rPr lang="en-US" dirty="0"/>
              <a:t> if not incorporated on the sidebar via a widget.</a:t>
            </a:r>
          </a:p>
        </p:txBody>
      </p:sp>
    </p:spTree>
    <p:extLst>
      <p:ext uri="{BB962C8B-B14F-4D97-AF65-F5344CB8AC3E}">
        <p14:creationId xmlns:p14="http://schemas.microsoft.com/office/powerpoint/2010/main" val="4009873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24708-3854-EF6F-CD9E-ED43D5409D85}"/>
              </a:ext>
            </a:extLst>
          </p:cNvPr>
          <p:cNvSpPr>
            <a:spLocks noGrp="1"/>
          </p:cNvSpPr>
          <p:nvPr>
            <p:ph type="title"/>
          </p:nvPr>
        </p:nvSpPr>
        <p:spPr/>
        <p:txBody>
          <a:bodyPr/>
          <a:lstStyle/>
          <a:p>
            <a:r>
              <a:rPr lang="en-US" dirty="0"/>
              <a:t>Website Design: </a:t>
            </a:r>
            <a:r>
              <a:rPr lang="en-US" b="1" dirty="0"/>
              <a:t>Resource Pages</a:t>
            </a:r>
            <a:endParaRPr lang="en-US" dirty="0"/>
          </a:p>
        </p:txBody>
      </p:sp>
      <p:sp>
        <p:nvSpPr>
          <p:cNvPr id="3" name="Content Placeholder 2">
            <a:extLst>
              <a:ext uri="{FF2B5EF4-FFF2-40B4-BE49-F238E27FC236}">
                <a16:creationId xmlns:a16="http://schemas.microsoft.com/office/drawing/2014/main" id="{D07C9BB3-9A7C-0ABE-AC4D-FB553B5C4CCC}"/>
              </a:ext>
            </a:extLst>
          </p:cNvPr>
          <p:cNvSpPr>
            <a:spLocks noGrp="1"/>
          </p:cNvSpPr>
          <p:nvPr>
            <p:ph idx="1"/>
          </p:nvPr>
        </p:nvSpPr>
        <p:spPr>
          <a:xfrm>
            <a:off x="1295401" y="2556932"/>
            <a:ext cx="9601196" cy="3459820"/>
          </a:xfrm>
        </p:spPr>
        <p:txBody>
          <a:bodyPr>
            <a:normAutofit fontScale="85000" lnSpcReduction="10000"/>
          </a:bodyPr>
          <a:lstStyle/>
          <a:p>
            <a:r>
              <a:rPr lang="en-US" dirty="0"/>
              <a:t>Determine whether your </a:t>
            </a:r>
            <a:r>
              <a:rPr lang="en-US" b="1" dirty="0"/>
              <a:t>navigation bar </a:t>
            </a:r>
            <a:r>
              <a:rPr lang="en-US" dirty="0"/>
              <a:t>lays out the pages effectively.</a:t>
            </a:r>
          </a:p>
          <a:p>
            <a:pPr lvl="1"/>
            <a:r>
              <a:rPr lang="en-US" dirty="0"/>
              <a:t>Are you keeping them separate or using dropdown menus to group them together? If you group them, think about the order of pages within the dropdown menus. (This approach is most common.)</a:t>
            </a:r>
          </a:p>
          <a:p>
            <a:pPr lvl="1"/>
            <a:r>
              <a:rPr lang="en-US" dirty="0"/>
              <a:t>Order the tabs/pages appropriately based on the sequence that you would want the reader to interact with them.</a:t>
            </a:r>
          </a:p>
          <a:p>
            <a:r>
              <a:rPr lang="en-US" dirty="0"/>
              <a:t>Provide </a:t>
            </a:r>
            <a:r>
              <a:rPr lang="en-US" b="1" dirty="0"/>
              <a:t>overview text </a:t>
            </a:r>
            <a:r>
              <a:rPr lang="en-US" dirty="0"/>
              <a:t>on each page or in the pages for the dropdown menu, which should briefly orient the reader to the content within that page or section of the website.</a:t>
            </a:r>
          </a:p>
          <a:p>
            <a:r>
              <a:rPr lang="en-US" dirty="0"/>
              <a:t>Review your </a:t>
            </a:r>
            <a:r>
              <a:rPr lang="en-US" b="1" dirty="0"/>
              <a:t>pages for the resource abstracts </a:t>
            </a:r>
            <a:r>
              <a:rPr lang="en-US" dirty="0"/>
              <a:t>to make sure they maintain consistent formatting and adhere to effective design principles.</a:t>
            </a:r>
          </a:p>
          <a:p>
            <a:r>
              <a:rPr lang="en-US" dirty="0"/>
              <a:t>Consider adding </a:t>
            </a:r>
            <a:r>
              <a:rPr lang="en-US" b="1" dirty="0"/>
              <a:t>aesthetic features </a:t>
            </a:r>
            <a:r>
              <a:rPr lang="en-US" dirty="0"/>
              <a:t>to the site, such as a banner image, colors, etc.</a:t>
            </a:r>
          </a:p>
        </p:txBody>
      </p:sp>
    </p:spTree>
    <p:extLst>
      <p:ext uri="{BB962C8B-B14F-4D97-AF65-F5344CB8AC3E}">
        <p14:creationId xmlns:p14="http://schemas.microsoft.com/office/powerpoint/2010/main" val="256376839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23</TotalTime>
  <Words>429</Words>
  <Application>Microsoft Office PowerPoint</Application>
  <PresentationFormat>Widescreen</PresentationFormat>
  <Paragraphs>30</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Garamond</vt:lpstr>
      <vt:lpstr>Organic</vt:lpstr>
      <vt:lpstr>Final Internet Resource Guide Revision Workshop</vt:lpstr>
      <vt:lpstr>Resource Abstracts: Content</vt:lpstr>
      <vt:lpstr>Resource Abstracts: Design</vt:lpstr>
      <vt:lpstr>Website Design: Front Matter</vt:lpstr>
      <vt:lpstr>Website Design: Resource Pages</vt:lpstr>
    </vt:vector>
  </TitlesOfParts>
  <Company>Pennsylvania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Seekford, Brett E. G.</dc:creator>
  <cp:lastModifiedBy>Seekford, Brett E. G.</cp:lastModifiedBy>
  <cp:revision>1</cp:revision>
  <dcterms:created xsi:type="dcterms:W3CDTF">2026-05-01T14:32:55Z</dcterms:created>
  <dcterms:modified xsi:type="dcterms:W3CDTF">2026-05-01T14:56:48Z</dcterms:modified>
</cp:coreProperties>
</file>